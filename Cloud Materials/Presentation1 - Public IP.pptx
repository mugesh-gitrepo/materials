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sldIdLst>
    <p:sldId id="256" r:id="rId2"/>
    <p:sldId id="257" r:id="rId3"/>
    <p:sldId id="269" r:id="rId4"/>
    <p:sldId id="268" r:id="rId5"/>
    <p:sldId id="267" r:id="rId6"/>
    <p:sldId id="258" r:id="rId7"/>
    <p:sldId id="266" r:id="rId8"/>
    <p:sldId id="265" r:id="rId9"/>
    <p:sldId id="259" r:id="rId10"/>
    <p:sldId id="262" r:id="rId11"/>
    <p:sldId id="264" r:id="rId12"/>
    <p:sldId id="270" r:id="rId13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45C"/>
    <a:srgbClr val="CD7A00"/>
    <a:srgbClr val="FFE2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64D668-4EC9-42E5-586E-205F9A9FD4C2}" v="55" dt="2024-02-05T07:01:06.772"/>
    <p1510:client id="{61A7F087-00CA-6535-7226-2C13AC91D1BF}" v="456" dt="2024-02-05T05:14:52.200"/>
    <p1510:client id="{67509832-49FC-9833-4078-A7D5ACAD20D2}" v="85" dt="2024-02-05T07:09:52.253"/>
    <p1510:client id="{B569BE63-67F4-7356-3D84-729EC431F976}" v="209" dt="2024-02-05T05:06:48.442"/>
    <p1510:client id="{B605189B-3A00-0177-5D36-26990EB6B967}" v="1243" dt="2024-02-05T07:39:05.835"/>
    <p1510:client id="{C386A155-FA7F-41AB-9C88-94E49162FD60}" v="56" dt="2024-02-05T04:10:40.060"/>
    <p1510:client id="{D631D567-E9BE-44F2-8FEB-912BD39979A6}" v="67" dt="2024-02-05T04:26:23.826"/>
    <p1510:client id="{DDA78C16-C2DE-9F55-E87E-A8DEFF2B1CA9}" v="54" dt="2024-02-05T08:38:32.600"/>
    <p1510:client id="{F7D489CE-9481-650B-FD11-D0A84F6CF850}" v="369" dt="2024-02-05T04:36:06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3938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155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44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80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399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038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248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88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117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95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91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1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0" r:id="rId6"/>
    <p:sldLayoutId id="2147483776" r:id="rId7"/>
    <p:sldLayoutId id="2147483777" r:id="rId8"/>
    <p:sldLayoutId id="2147483778" r:id="rId9"/>
    <p:sldLayoutId id="2147483779" r:id="rId10"/>
    <p:sldLayoutId id="21474837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pchicken.com/&#8203;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digital globe">
            <a:extLst>
              <a:ext uri="{FF2B5EF4-FFF2-40B4-BE49-F238E27FC236}">
                <a16:creationId xmlns:a16="http://schemas.microsoft.com/office/drawing/2014/main" id="{358FA810-4E34-F1E7-BC5A-0990FFCB85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8" r="25032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GB" sz="4800"/>
              <a:t>Public IP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4E3D71-A706-70C2-16FB-55D8FC0AE60D}"/>
              </a:ext>
            </a:extLst>
          </p:cNvPr>
          <p:cNvSpPr txBox="1"/>
          <p:nvPr/>
        </p:nvSpPr>
        <p:spPr>
          <a:xfrm>
            <a:off x="561473" y="267368"/>
            <a:ext cx="3489157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>
                <a:solidFill>
                  <a:schemeClr val="accent1">
                    <a:lumMod val="75000"/>
                  </a:schemeClr>
                </a:solidFill>
                <a:latin typeface="Amasis MT Pro"/>
              </a:rPr>
              <a:t>What is IP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D1E0E86-8EE4-1F50-9587-2F9A7B8C647B}"/>
              </a:ext>
            </a:extLst>
          </p:cNvPr>
          <p:cNvCxnSpPr/>
          <p:nvPr/>
        </p:nvCxnSpPr>
        <p:spPr>
          <a:xfrm flipV="1">
            <a:off x="621464" y="927602"/>
            <a:ext cx="10940715" cy="3475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63C39DE-B6B3-9E1C-74BB-E850D803BFED}"/>
              </a:ext>
            </a:extLst>
          </p:cNvPr>
          <p:cNvSpPr txBox="1"/>
          <p:nvPr/>
        </p:nvSpPr>
        <p:spPr>
          <a:xfrm>
            <a:off x="9023231" y="610462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hlinkClick r:id="rId2"/>
              </a:rPr>
              <a:t>Check this system's IP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D1E7D4-F75D-ECE8-DC5B-7851B7BE98B5}"/>
              </a:ext>
            </a:extLst>
          </p:cNvPr>
          <p:cNvSpPr txBox="1"/>
          <p:nvPr/>
        </p:nvSpPr>
        <p:spPr>
          <a:xfrm>
            <a:off x="779720" y="1293628"/>
            <a:ext cx="10703441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GB" sz="2400"/>
              <a:t>An IP address is an identifier for a computer or device on a network. Every device have its unique IP address provided by the respective ISP.</a:t>
            </a:r>
            <a:endParaRPr lang="en-US" sz="2400"/>
          </a:p>
          <a:p>
            <a:pPr marL="285750" indent="-285750">
              <a:buFont typeface="Wingdings"/>
              <a:buChar char="v"/>
            </a:pPr>
            <a:endParaRPr lang="en-GB" sz="2400"/>
          </a:p>
          <a:p>
            <a:pPr marL="285750" indent="-285750">
              <a:buFont typeface="Wingdings"/>
              <a:buChar char="v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IP address is randomly assigned for the device, while connecting with the particular network.</a:t>
            </a:r>
          </a:p>
          <a:p>
            <a:pPr marL="285750" indent="-285750">
              <a:buFont typeface="Wingdings"/>
              <a:buChar char="v"/>
            </a:pPr>
            <a:endParaRPr lang="en-GB" sz="240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Wingdings"/>
              <a:buChar char="v"/>
            </a:pP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An example address might be 192.158.1.38. Each number in the set can range from 0 to 255. So, the full IP addressing range goes from 0.0.0.0 to 255.255.255.255 (Almost 4.3 Billion).</a:t>
            </a:r>
            <a:endParaRPr lang="en-GB" sz="2400"/>
          </a:p>
          <a:p>
            <a:endParaRPr lang="en-GB" sz="2400"/>
          </a:p>
          <a:p>
            <a:pPr marL="285750" indent="-285750">
              <a:buFont typeface="Wingdings"/>
              <a:buChar char="v"/>
            </a:pPr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259856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6">
            <a:extLst>
              <a:ext uri="{FF2B5EF4-FFF2-40B4-BE49-F238E27FC236}">
                <a16:creationId xmlns:a16="http://schemas.microsoft.com/office/drawing/2014/main" id="{DD601DE4-4208-D830-282E-33B32D27A635}"/>
              </a:ext>
            </a:extLst>
          </p:cNvPr>
          <p:cNvSpPr txBox="1"/>
          <p:nvPr/>
        </p:nvSpPr>
        <p:spPr>
          <a:xfrm>
            <a:off x="387186" y="1063925"/>
            <a:ext cx="5645620" cy="267708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GB" sz="2400" b="1"/>
              <a:t>Internet Protocol version 4 (IPv4)</a:t>
            </a:r>
            <a:endParaRPr lang="en-US" sz="2400" b="1"/>
          </a:p>
          <a:p>
            <a:pPr>
              <a:lnSpc>
                <a:spcPct val="150000"/>
              </a:lnSpc>
            </a:pPr>
            <a:r>
              <a:rPr lang="en-GB" sz="2400" b="1"/>
              <a:t>Format:</a:t>
            </a:r>
            <a:r>
              <a:rPr lang="en-GB" sz="2400"/>
              <a:t> 32-bit numerical labels</a:t>
            </a:r>
          </a:p>
          <a:p>
            <a:pPr>
              <a:lnSpc>
                <a:spcPct val="150000"/>
              </a:lnSpc>
            </a:pPr>
            <a:r>
              <a:rPr lang="en-GB" sz="2400" b="1"/>
              <a:t>Ex:</a:t>
            </a:r>
            <a:r>
              <a:rPr lang="en-GB" sz="2400"/>
              <a:t> 192.168.0.1</a:t>
            </a:r>
          </a:p>
          <a:p>
            <a:pPr>
              <a:lnSpc>
                <a:spcPct val="150000"/>
              </a:lnSpc>
            </a:pPr>
            <a:r>
              <a:rPr lang="en-GB" sz="2400" b="1"/>
              <a:t>Limit:</a:t>
            </a:r>
            <a:r>
              <a:rPr lang="en-GB" sz="2400"/>
              <a:t> 4.3 billion</a:t>
            </a:r>
          </a:p>
          <a:p>
            <a:pPr algn="l">
              <a:lnSpc>
                <a:spcPct val="150000"/>
              </a:lnSpc>
            </a:pPr>
            <a:endParaRPr lang="en-GB"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DD601DE4-4208-D830-282E-33B32D27A635}"/>
              </a:ext>
            </a:extLst>
          </p:cNvPr>
          <p:cNvSpPr txBox="1"/>
          <p:nvPr/>
        </p:nvSpPr>
        <p:spPr>
          <a:xfrm>
            <a:off x="5634024" y="3867510"/>
            <a:ext cx="6450752" cy="33539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GB" sz="2400" b="1">
                <a:solidFill>
                  <a:srgbClr val="000000"/>
                </a:solidFill>
                <a:ea typeface="+mn-lt"/>
                <a:cs typeface="+mn-lt"/>
              </a:rPr>
              <a:t>Internet Protocol version 6 (IPv6)</a:t>
            </a:r>
            <a:endParaRPr lang="en-US" sz="2400" b="1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GB" sz="2400" b="1">
                <a:solidFill>
                  <a:srgbClr val="000000"/>
                </a:solidFill>
                <a:ea typeface="+mn-lt"/>
                <a:cs typeface="+mn-lt"/>
              </a:rPr>
              <a:t>Format: </a:t>
            </a: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128-bit hexadecimal numbers</a:t>
            </a:r>
            <a:endParaRPr lang="en-GB"/>
          </a:p>
          <a:p>
            <a:pPr>
              <a:lnSpc>
                <a:spcPct val="150000"/>
              </a:lnSpc>
            </a:pPr>
            <a:r>
              <a:rPr lang="en-GB" sz="2400" b="1">
                <a:solidFill>
                  <a:srgbClr val="000000"/>
                </a:solidFill>
                <a:ea typeface="+mn-lt"/>
                <a:cs typeface="+mn-lt"/>
              </a:rPr>
              <a:t>Ex: </a:t>
            </a: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2001:0db8:85a3:0000:0000:8a2e:0370:7334</a:t>
            </a:r>
            <a:endParaRPr lang="en-GB"/>
          </a:p>
          <a:p>
            <a:pPr>
              <a:lnSpc>
                <a:spcPct val="150000"/>
              </a:lnSpc>
            </a:pPr>
            <a:r>
              <a:rPr lang="en-GB" sz="2400" b="1">
                <a:solidFill>
                  <a:srgbClr val="000000"/>
                </a:solidFill>
                <a:ea typeface="+mn-lt"/>
                <a:cs typeface="+mn-lt"/>
              </a:rPr>
              <a:t>Limit: </a:t>
            </a:r>
            <a:r>
              <a:rPr lang="en-GB" sz="2400">
                <a:solidFill>
                  <a:srgbClr val="000000"/>
                </a:solidFill>
                <a:ea typeface="+mn-lt"/>
                <a:cs typeface="+mn-lt"/>
              </a:rPr>
              <a:t>approximately 3.4x10^38 addresses</a:t>
            </a:r>
            <a:endParaRPr lang="en-GB"/>
          </a:p>
          <a:p>
            <a:pPr marL="285750" indent="-285750" algn="l">
              <a:lnSpc>
                <a:spcPct val="150000"/>
              </a:lnSpc>
              <a:buFont typeface="Wingdings"/>
              <a:buChar char="Ø"/>
            </a:pPr>
            <a:endParaRPr lang="en-GB" sz="2400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185F40-BC07-F614-6C05-59274E0D58F6}"/>
              </a:ext>
            </a:extLst>
          </p:cNvPr>
          <p:cNvCxnSpPr/>
          <p:nvPr/>
        </p:nvCxnSpPr>
        <p:spPr>
          <a:xfrm flipV="1">
            <a:off x="375788" y="894811"/>
            <a:ext cx="11381116" cy="5751"/>
          </a:xfrm>
          <a:prstGeom prst="straightConnector1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CE28152-4575-5E3E-D1E8-7329C58886FB}"/>
              </a:ext>
            </a:extLst>
          </p:cNvPr>
          <p:cNvSpPr txBox="1"/>
          <p:nvPr/>
        </p:nvSpPr>
        <p:spPr>
          <a:xfrm>
            <a:off x="374567" y="94839"/>
            <a:ext cx="4553082" cy="5991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>
                <a:solidFill>
                  <a:schemeClr val="accent1">
                    <a:lumMod val="75000"/>
                  </a:schemeClr>
                </a:solidFill>
                <a:latin typeface="Amasis MT Pro"/>
              </a:rPr>
              <a:t>IP Versions</a:t>
            </a:r>
          </a:p>
        </p:txBody>
      </p:sp>
      <p:pic>
        <p:nvPicPr>
          <p:cNvPr id="14" name="Picture 13" descr="A diagram of a network&#10;&#10;Description automatically generated">
            <a:extLst>
              <a:ext uri="{FF2B5EF4-FFF2-40B4-BE49-F238E27FC236}">
                <a16:creationId xmlns:a16="http://schemas.microsoft.com/office/drawing/2014/main" id="{9D2892D9-7571-67D3-88AB-A2B1280A17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75" r="338" b="9483"/>
          <a:stretch/>
        </p:blipFill>
        <p:spPr>
          <a:xfrm>
            <a:off x="6226386" y="923027"/>
            <a:ext cx="4864561" cy="266762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A4AA6AF-0A69-F8F1-4588-70FA7BAE15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027" t="22161" r="9189" b="20882"/>
          <a:stretch/>
        </p:blipFill>
        <p:spPr>
          <a:xfrm>
            <a:off x="530746" y="3938682"/>
            <a:ext cx="4449296" cy="278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22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5D3C1D-A6AE-4FCA-BB76-A4748CE5D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3160BA-18D0-0549-1E5E-886F63AEB469}"/>
              </a:ext>
            </a:extLst>
          </p:cNvPr>
          <p:cNvSpPr txBox="1"/>
          <p:nvPr/>
        </p:nvSpPr>
        <p:spPr>
          <a:xfrm>
            <a:off x="649014" y="-877648"/>
            <a:ext cx="10978470" cy="3564636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>
                <a:latin typeface="+mj-lt"/>
                <a:ea typeface="+mj-ea"/>
                <a:cs typeface="+mj-cs"/>
              </a:rPr>
              <a:t>What is public IP?</a:t>
            </a:r>
            <a:endParaRPr lang="en-US" sz="3600">
              <a:latin typeface="+mj-lt"/>
              <a:ea typeface="+mj-ea"/>
              <a:cs typeface="+mj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D5BF818-2283-4CC9-A120-9225CEDFA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13350"/>
            <a:ext cx="128016" cy="2468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A42EF-20CC-4BCC-9D0B-222CF3AAE8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945" y="5831269"/>
            <a:ext cx="109270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6EE0B6-93FC-1748-B34B-A68FFF33BBCB}"/>
              </a:ext>
            </a:extLst>
          </p:cNvPr>
          <p:cNvSpPr txBox="1"/>
          <p:nvPr/>
        </p:nvSpPr>
        <p:spPr>
          <a:xfrm>
            <a:off x="644769" y="1763602"/>
            <a:ext cx="8051902" cy="286232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/>
              <a:buChar char="Ø"/>
            </a:pPr>
            <a:r>
              <a:rPr lang="en-GB" b="1">
                <a:latin typeface="Times New Roman"/>
                <a:ea typeface="+mn-lt"/>
                <a:cs typeface="Times New Roman"/>
              </a:rPr>
              <a:t>Public IP Address:</a:t>
            </a:r>
            <a:r>
              <a:rPr lang="en-GB">
                <a:latin typeface="Times New Roman"/>
                <a:ea typeface="+mn-lt"/>
                <a:cs typeface="Times New Roman"/>
              </a:rPr>
              <a:t> Your Network's Gateway to the Internet</a:t>
            </a:r>
          </a:p>
          <a:p>
            <a:pPr marL="285750" indent="-285750">
              <a:buFont typeface="Wingdings"/>
              <a:buChar char="Ø"/>
            </a:pPr>
            <a:endParaRPr lang="en-GB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r>
              <a:rPr lang="en-GB">
                <a:latin typeface="Times New Roman"/>
                <a:ea typeface="+mn-lt"/>
                <a:cs typeface="Times New Roman"/>
              </a:rPr>
              <a:t>Provided</a:t>
            </a:r>
            <a:r>
              <a:rPr lang="en-GB">
                <a:latin typeface="Times New Roman"/>
                <a:ea typeface="+mn-lt"/>
                <a:cs typeface="+mn-lt"/>
              </a:rPr>
              <a:t> by the Internet Service Providers (ISP).</a:t>
            </a:r>
          </a:p>
          <a:p>
            <a:pPr marL="285750" indent="-285750">
              <a:buFont typeface="Wingdings"/>
              <a:buChar char="Ø"/>
            </a:pPr>
            <a:endParaRPr lang="en-GB">
              <a:latin typeface="Times New Roman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GB">
                <a:latin typeface="Times New Roman"/>
                <a:ea typeface="+mn-lt"/>
                <a:cs typeface="+mn-lt"/>
              </a:rPr>
              <a:t>Unique code globally that is never reused by another device.</a:t>
            </a:r>
            <a:endParaRPr lang="en-GB">
              <a:latin typeface="Times New Roman"/>
              <a:ea typeface="+mn-lt"/>
              <a:cs typeface="Times New Roman"/>
            </a:endParaRPr>
          </a:p>
          <a:p>
            <a:pPr marL="285750" indent="-285750">
              <a:buFont typeface="Wingdings"/>
              <a:buChar char="Ø"/>
            </a:pPr>
            <a:endParaRPr lang="en-GB" b="1">
              <a:latin typeface="Times New Roman"/>
              <a:cs typeface="Times New Roman"/>
            </a:endParaRPr>
          </a:p>
          <a:p>
            <a:pPr marL="285750" indent="-285750">
              <a:lnSpc>
                <a:spcPct val="150000"/>
              </a:lnSpc>
              <a:buFont typeface="Wingdings"/>
              <a:buChar char="Ø"/>
            </a:pPr>
            <a:r>
              <a:rPr lang="en-GB" b="1">
                <a:latin typeface="Times New Roman"/>
                <a:cs typeface="Times New Roman"/>
              </a:rPr>
              <a:t>Public vs Private:</a:t>
            </a:r>
          </a:p>
          <a:p>
            <a:pPr>
              <a:lnSpc>
                <a:spcPct val="150000"/>
              </a:lnSpc>
            </a:pPr>
            <a:r>
              <a:rPr lang="en-GB" b="1">
                <a:latin typeface="Times New Roman"/>
                <a:cs typeface="Times New Roman"/>
              </a:rPr>
              <a:t>     Public IP</a:t>
            </a:r>
            <a:r>
              <a:rPr lang="en-GB">
                <a:latin typeface="Times New Roman"/>
                <a:cs typeface="Times New Roman"/>
              </a:rPr>
              <a:t> : Unique.</a:t>
            </a:r>
          </a:p>
          <a:p>
            <a:r>
              <a:rPr lang="en-GB">
                <a:latin typeface="Times New Roman"/>
                <a:cs typeface="Times New Roman"/>
              </a:rPr>
              <a:t>     </a:t>
            </a:r>
            <a:r>
              <a:rPr lang="en-GB" b="1">
                <a:latin typeface="Times New Roman"/>
                <a:cs typeface="Times New Roman"/>
              </a:rPr>
              <a:t>Private IP</a:t>
            </a:r>
            <a:r>
              <a:rPr lang="en-GB">
                <a:latin typeface="Times New Roman"/>
                <a:cs typeface="Times New Roman"/>
              </a:rPr>
              <a:t> : Unique only within a network.</a:t>
            </a:r>
          </a:p>
        </p:txBody>
      </p:sp>
      <p:pic>
        <p:nvPicPr>
          <p:cNvPr id="5" name="Graphic 28" descr="Wireless router">
            <a:extLst>
              <a:ext uri="{FF2B5EF4-FFF2-40B4-BE49-F238E27FC236}">
                <a16:creationId xmlns:a16="http://schemas.microsoft.com/office/drawing/2014/main" id="{EE86B84A-DFA1-9B7B-3889-F7A82E7DF0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4266" y="1042331"/>
            <a:ext cx="3479431" cy="3465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2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router and a router&#10;&#10;Description automatically generated">
            <a:extLst>
              <a:ext uri="{FF2B5EF4-FFF2-40B4-BE49-F238E27FC236}">
                <a16:creationId xmlns:a16="http://schemas.microsoft.com/office/drawing/2014/main" id="{523497B6-FC6F-5F88-D852-027FE5ED3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39" y="2696"/>
            <a:ext cx="12205478" cy="685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297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2E4A3-5CDE-D9EE-9358-D8CB33325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Static IP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D606F-6604-152D-CC2B-F2A9BE55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+mn-lt"/>
              </a:rPr>
              <a:t>Static IP address is a permanent IP address that does not change.</a:t>
            </a:r>
            <a:endParaRPr lang="en-US"/>
          </a:p>
          <a:p>
            <a:pPr>
              <a:buFont typeface="Wingdings" panose="020B0604020202020204" pitchFamily="34" charset="0"/>
              <a:buChar char="Ø"/>
            </a:pPr>
            <a:endParaRPr lang="en-US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+mn-lt"/>
              </a:rPr>
              <a:t> If you have a web server that must have an address that cannot change, you can get a static IP address from your ISP.</a:t>
            </a:r>
            <a:endParaRPr lang="en-US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21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A3FF-5F39-D2F4-333E-FBD3296C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Dynamic IP Address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7DD8-0F8F-A88F-7983-4858D65F0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+mn-lt"/>
              </a:rPr>
              <a:t> Dynamic IP address can change every time a user reboots their router or system, and when the user connects to their ISP service.</a:t>
            </a:r>
          </a:p>
          <a:p>
            <a:pPr>
              <a:buFont typeface="Wingdings" panose="020B0604020202020204" pitchFamily="34" charset="0"/>
              <a:buChar char="Ø"/>
            </a:pPr>
            <a:endParaRPr lang="en-US">
              <a:latin typeface="Times New Roman"/>
              <a:ea typeface="+mn-lt"/>
              <a:cs typeface="+mn-lt"/>
            </a:endParaRPr>
          </a:p>
          <a:p>
            <a:pPr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+mn-lt"/>
              </a:rPr>
              <a:t>A dynamic IP address is typically assigned by your ISP using a protocol called Dynamic Host Configuration Protocol (DHCP).</a:t>
            </a:r>
          </a:p>
        </p:txBody>
      </p:sp>
    </p:spTree>
    <p:extLst>
      <p:ext uri="{BB962C8B-B14F-4D97-AF65-F5344CB8AC3E}">
        <p14:creationId xmlns:p14="http://schemas.microsoft.com/office/powerpoint/2010/main" val="980837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461BE-760F-2CEF-128E-B1EEA8E28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/>
              <a:t>Find Our Public IP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8DAC-C4FB-35C9-A7B3-240E1B578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Go to a google website.</a:t>
            </a:r>
          </a:p>
          <a:p>
            <a:pPr>
              <a:buFont typeface="Arial"/>
              <a:buChar char="•"/>
            </a:pPr>
            <a:r>
              <a:rPr lang="en-US" sz="1700">
                <a:ea typeface="+mn-lt"/>
                <a:cs typeface="+mn-lt"/>
              </a:rPr>
              <a:t>In the search bar, type "What is my IP address" and press Enter.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endParaRPr lang="en-US" sz="170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0594F18-3C43-24BA-7203-F6F1AD359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223" y="841248"/>
            <a:ext cx="6453930" cy="527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37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F0A2B-5DEA-424C-E38D-9AB97297BC17}"/>
              </a:ext>
            </a:extLst>
          </p:cNvPr>
          <p:cNvSpPr txBox="1"/>
          <p:nvPr/>
        </p:nvSpPr>
        <p:spPr>
          <a:xfrm>
            <a:off x="762000" y="793750"/>
            <a:ext cx="10888452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ADVANTAGES </a:t>
            </a:r>
          </a:p>
          <a:p>
            <a:endParaRPr lang="en-US" sz="2800" b="1"/>
          </a:p>
          <a:p>
            <a:endParaRPr lang="en-US">
              <a:latin typeface="Avenir Next LT Pro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Global Accessibility</a:t>
            </a:r>
          </a:p>
          <a:p>
            <a:endParaRPr lang="en-US" sz="2400"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Hosting Services</a:t>
            </a:r>
          </a:p>
          <a:p>
            <a:endParaRPr lang="en-US" sz="2400"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Direct Communication</a:t>
            </a:r>
            <a:endParaRPr lang="en-US"/>
          </a:p>
          <a:p>
            <a:endParaRPr lang="en-US" sz="2400"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Remote Access</a:t>
            </a:r>
            <a:endParaRPr lang="en-US" sz="2400">
              <a:latin typeface="Arial Nova"/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430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F0A2B-5DEA-424C-E38D-9AB97297BC17}"/>
              </a:ext>
            </a:extLst>
          </p:cNvPr>
          <p:cNvSpPr txBox="1"/>
          <p:nvPr/>
        </p:nvSpPr>
        <p:spPr>
          <a:xfrm>
            <a:off x="762000" y="793750"/>
            <a:ext cx="10888452" cy="4339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 Nova"/>
              </a:rPr>
              <a:t>DISADVANTAGES </a:t>
            </a:r>
            <a:endParaRPr lang="en-US" sz="2800" b="1"/>
          </a:p>
          <a:p>
            <a:pPr marL="457200" indent="-457200">
              <a:buFont typeface="Wingdings"/>
              <a:buChar char="Ø"/>
            </a:pPr>
            <a:endParaRPr lang="en-US" sz="3200">
              <a:latin typeface="Arial Nova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Security Concerns</a:t>
            </a:r>
          </a:p>
          <a:p>
            <a:pPr marL="285750" indent="-285750">
              <a:buFont typeface="Wingdings"/>
              <a:buChar char="Ø"/>
            </a:pPr>
            <a:endParaRPr lang="en-US" sz="2400">
              <a:latin typeface="Arial Nova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Limited Availability</a:t>
            </a:r>
          </a:p>
          <a:p>
            <a:pPr marL="285750" indent="-285750">
              <a:buFont typeface="Wingdings"/>
              <a:buChar char="Ø"/>
            </a:pPr>
            <a:endParaRPr lang="en-US" sz="2400">
              <a:latin typeface="Arial Nova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Cost</a:t>
            </a:r>
          </a:p>
          <a:p>
            <a:pPr marL="285750" indent="-285750">
              <a:buFont typeface="Wingdings"/>
              <a:buChar char="Ø"/>
            </a:pPr>
            <a:endParaRPr lang="en-US" sz="2400">
              <a:latin typeface="Arial Nova"/>
              <a:ea typeface="+mn-lt"/>
              <a:cs typeface="+mn-lt"/>
            </a:endParaRPr>
          </a:p>
          <a:p>
            <a:pPr marL="285750" indent="-285750">
              <a:buFont typeface="Wingdings"/>
              <a:buChar char="Ø"/>
            </a:pPr>
            <a:r>
              <a:rPr lang="en-US" sz="2400">
                <a:latin typeface="Arial Nova"/>
                <a:ea typeface="+mn-lt"/>
                <a:cs typeface="+mn-lt"/>
              </a:rPr>
              <a:t>Complexity</a:t>
            </a:r>
            <a:endParaRPr lang="en-US" sz="2400">
              <a:latin typeface="Arial Nova"/>
            </a:endParaRPr>
          </a:p>
          <a:p>
            <a:endParaRPr lang="en-US" sz="1200">
              <a:solidFill>
                <a:srgbClr val="374151"/>
              </a:solidFill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536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4F0A2B-5DEA-424C-E38D-9AB97297BC17}"/>
              </a:ext>
            </a:extLst>
          </p:cNvPr>
          <p:cNvSpPr txBox="1"/>
          <p:nvPr/>
        </p:nvSpPr>
        <p:spPr>
          <a:xfrm>
            <a:off x="762000" y="793750"/>
            <a:ext cx="10888452" cy="58169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Arial Nova"/>
              </a:rPr>
              <a:t>APPLICATION</a:t>
            </a:r>
          </a:p>
          <a:p>
            <a:endParaRPr lang="en-US">
              <a:solidFill>
                <a:srgbClr val="000000"/>
              </a:solidFill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Web Hosting</a:t>
            </a:r>
          </a:p>
          <a:p>
            <a:pPr marL="171450" indent="-171450">
              <a:buFont typeface="Wingdings"/>
              <a:buChar char="Ø"/>
            </a:pPr>
            <a:endParaRPr lang="en-US" sz="200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Email Servers</a:t>
            </a:r>
            <a:endParaRPr lang="en-US" sz="2000">
              <a:latin typeface="Arial Nova"/>
            </a:endParaRPr>
          </a:p>
          <a:p>
            <a:pPr marL="171450" indent="-171450">
              <a:buFont typeface="Wingdings"/>
              <a:buChar char="Ø"/>
            </a:pPr>
            <a:endParaRPr lang="en-US" sz="200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Online Gaming</a:t>
            </a:r>
            <a:endParaRPr lang="en-US" sz="2000">
              <a:latin typeface="Arial Nova"/>
            </a:endParaRPr>
          </a:p>
          <a:p>
            <a:endParaRPr lang="en-US" sz="200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VoIP (Voice over Internet Protocol)</a:t>
            </a:r>
          </a:p>
          <a:p>
            <a:pPr marL="171450" indent="-171450">
              <a:buFont typeface="Wingdings"/>
              <a:buChar char="Ø"/>
            </a:pPr>
            <a:endParaRPr lang="en-US" sz="200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Server Farms and Data Centers</a:t>
            </a:r>
            <a:endParaRPr lang="en-US" sz="2000">
              <a:latin typeface="Arial Nova"/>
            </a:endParaRPr>
          </a:p>
          <a:p>
            <a:pPr marL="171450" indent="-171450">
              <a:buFont typeface="Wingdings"/>
              <a:buChar char="Ø"/>
            </a:pPr>
            <a:endParaRPr lang="en-US" sz="200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Internet of Things (IoT) Devices</a:t>
            </a:r>
            <a:endParaRPr lang="en-US" sz="2000">
              <a:latin typeface="Arial Nova"/>
            </a:endParaRPr>
          </a:p>
          <a:p>
            <a:pPr marL="171450" indent="-171450">
              <a:buFont typeface="Wingdings"/>
              <a:buChar char="Ø"/>
            </a:pPr>
            <a:endParaRPr lang="en-US" sz="2000">
              <a:solidFill>
                <a:srgbClr val="000000"/>
              </a:solidFill>
              <a:latin typeface="Arial Nova"/>
              <a:ea typeface="+mn-lt"/>
              <a:cs typeface="+mn-lt"/>
            </a:endParaRPr>
          </a:p>
          <a:p>
            <a:pPr marL="171450" indent="-171450">
              <a:buFont typeface="Wingdings"/>
              <a:buChar char="Ø"/>
            </a:pPr>
            <a:r>
              <a:rPr lang="en-US" sz="2000">
                <a:solidFill>
                  <a:srgbClr val="000000"/>
                </a:solidFill>
                <a:latin typeface="Arial Nova"/>
                <a:ea typeface="+mn-lt"/>
                <a:cs typeface="+mn-lt"/>
              </a:rPr>
              <a:t>E-commerce Transactions</a:t>
            </a:r>
            <a:endParaRPr lang="en-US" sz="2000">
              <a:solidFill>
                <a:srgbClr val="374151"/>
              </a:solidFill>
              <a:latin typeface="Arial Nova"/>
            </a:endParaRPr>
          </a:p>
          <a:p>
            <a:endParaRPr lang="en-US">
              <a:solidFill>
                <a:srgbClr val="000000"/>
              </a:solidFill>
            </a:endParaRPr>
          </a:p>
          <a:p>
            <a:endParaRPr lang="en-US" sz="1200">
              <a:solidFill>
                <a:srgbClr val="374151"/>
              </a:solidFill>
            </a:endParaRP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300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158FC-F9DE-5585-D4EE-9777361A5FAA}"/>
              </a:ext>
            </a:extLst>
          </p:cNvPr>
          <p:cNvSpPr txBox="1"/>
          <p:nvPr/>
        </p:nvSpPr>
        <p:spPr>
          <a:xfrm>
            <a:off x="1524003" y="1999615"/>
            <a:ext cx="9144000" cy="276402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7440682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AccentBoxVTI</vt:lpstr>
      <vt:lpstr>Public IP</vt:lpstr>
      <vt:lpstr>PowerPoint Presentation</vt:lpstr>
      <vt:lpstr>PowerPoint Presentation</vt:lpstr>
      <vt:lpstr>PowerPoint Presentation</vt:lpstr>
      <vt:lpstr>PowerPoint Presentation</vt:lpstr>
      <vt:lpstr>Static IP Address</vt:lpstr>
      <vt:lpstr>Dynamic IP Address</vt:lpstr>
      <vt:lpstr>Find Our Public IP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3</cp:revision>
  <dcterms:created xsi:type="dcterms:W3CDTF">2024-02-05T04:04:14Z</dcterms:created>
  <dcterms:modified xsi:type="dcterms:W3CDTF">2024-02-05T09:34:26Z</dcterms:modified>
</cp:coreProperties>
</file>